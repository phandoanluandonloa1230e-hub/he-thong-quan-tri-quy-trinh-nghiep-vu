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302" r:id="rId7"/>
    <p:sldId id="303" r:id="rId8"/>
    <p:sldId id="304" r:id="rId9"/>
    <p:sldId id="301" r:id="rId10"/>
  </p:sldIdLst>
  <p:sldSz cx="18288000" cy="10287000"/>
  <p:notesSz cx="6858000" cy="9144000"/>
  <p:embeddedFontLst>
    <p:embeddedFont>
      <p:font typeface="Neo Sans Bold" panose="020B0604020202020204" charset="0"/>
      <p:regular r:id="rId11"/>
    </p:embeddedFont>
    <p:embeddedFont>
      <p:font typeface="Poppin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773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144497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317" r="-3317"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1076D">
                    <a:alpha val="64000"/>
                  </a:srgbClr>
                </a:gs>
                <a:gs pos="100000">
                  <a:srgbClr val="144357">
                    <a:alpha val="64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1598616" y="8211064"/>
            <a:ext cx="5244214" cy="1378534"/>
          </a:xfrm>
          <a:custGeom>
            <a:avLst/>
            <a:gdLst/>
            <a:ahLst/>
            <a:cxnLst/>
            <a:rect l="l" t="t" r="r" b="b"/>
            <a:pathLst>
              <a:path w="5244214" h="1378534">
                <a:moveTo>
                  <a:pt x="0" y="0"/>
                </a:moveTo>
                <a:lnTo>
                  <a:pt x="5244213" y="0"/>
                </a:lnTo>
                <a:lnTo>
                  <a:pt x="5244213" y="1378534"/>
                </a:lnTo>
                <a:lnTo>
                  <a:pt x="0" y="13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Freeform 8"/>
          <p:cNvSpPr/>
          <p:nvPr/>
        </p:nvSpPr>
        <p:spPr>
          <a:xfrm flipH="1">
            <a:off x="15255366" y="2532697"/>
            <a:ext cx="5244214" cy="1378534"/>
          </a:xfrm>
          <a:custGeom>
            <a:avLst/>
            <a:gdLst/>
            <a:ahLst/>
            <a:cxnLst/>
            <a:rect l="l" t="t" r="r" b="b"/>
            <a:pathLst>
              <a:path w="5244214" h="1378534">
                <a:moveTo>
                  <a:pt x="5244214" y="0"/>
                </a:moveTo>
                <a:lnTo>
                  <a:pt x="0" y="0"/>
                </a:lnTo>
                <a:lnTo>
                  <a:pt x="0" y="1378534"/>
                </a:lnTo>
                <a:lnTo>
                  <a:pt x="5244214" y="1378534"/>
                </a:lnTo>
                <a:lnTo>
                  <a:pt x="524421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1143085" y="2238919"/>
            <a:ext cx="1658436" cy="1603308"/>
          </a:xfrm>
          <a:custGeom>
            <a:avLst/>
            <a:gdLst/>
            <a:ahLst/>
            <a:cxnLst/>
            <a:rect l="l" t="t" r="r" b="b"/>
            <a:pathLst>
              <a:path w="1658436" h="1603308">
                <a:moveTo>
                  <a:pt x="0" y="0"/>
                </a:moveTo>
                <a:lnTo>
                  <a:pt x="1658436" y="0"/>
                </a:lnTo>
                <a:lnTo>
                  <a:pt x="1658436" y="1603308"/>
                </a:lnTo>
                <a:lnTo>
                  <a:pt x="0" y="1603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TextBox 10"/>
          <p:cNvSpPr txBox="1"/>
          <p:nvPr/>
        </p:nvSpPr>
        <p:spPr>
          <a:xfrm>
            <a:off x="1383716" y="4101638"/>
            <a:ext cx="15653350" cy="2400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5200" b="1">
                <a:solidFill>
                  <a:srgbClr val="00FFD1"/>
                </a:solidFill>
                <a:latin typeface="Times New Roman" panose="02020603050405020304" pitchFamily="18" charset="0"/>
                <a:ea typeface="Neo Sans Bold"/>
                <a:cs typeface="Times New Roman" panose="02020603050405020304" pitchFamily="18" charset="0"/>
                <a:sym typeface="Neo Sans Bold"/>
              </a:rPr>
              <a:t>PHÂN TÍCH HỆ THỐNG QUẢN TRỊ QUY TRÌNH BÁN HÀNG TẠI CÔNG TY TNHH </a:t>
            </a:r>
          </a:p>
          <a:p>
            <a:pPr algn="ctr"/>
            <a:r>
              <a:rPr lang="en-US" sz="5200" b="1">
                <a:solidFill>
                  <a:srgbClr val="00FFD1"/>
                </a:solidFill>
                <a:latin typeface="Times New Roman" panose="02020603050405020304" pitchFamily="18" charset="0"/>
                <a:ea typeface="Neo Sans Bold"/>
                <a:cs typeface="Times New Roman" panose="02020603050405020304" pitchFamily="18" charset="0"/>
                <a:sym typeface="Neo Sans Bold"/>
              </a:rPr>
              <a:t>HASAKI BEAUTY &amp; S.P.A</a:t>
            </a:r>
          </a:p>
        </p:txBody>
      </p:sp>
      <p:sp>
        <p:nvSpPr>
          <p:cNvPr id="11" name="Freeform 11"/>
          <p:cNvSpPr/>
          <p:nvPr/>
        </p:nvSpPr>
        <p:spPr>
          <a:xfrm>
            <a:off x="15419047" y="7357765"/>
            <a:ext cx="1725868" cy="1668498"/>
          </a:xfrm>
          <a:custGeom>
            <a:avLst/>
            <a:gdLst/>
            <a:ahLst/>
            <a:cxnLst/>
            <a:rect l="l" t="t" r="r" b="b"/>
            <a:pathLst>
              <a:path w="1725868" h="1668498">
                <a:moveTo>
                  <a:pt x="0" y="0"/>
                </a:moveTo>
                <a:lnTo>
                  <a:pt x="1725868" y="0"/>
                </a:lnTo>
                <a:lnTo>
                  <a:pt x="1725868" y="1668498"/>
                </a:lnTo>
                <a:lnTo>
                  <a:pt x="0" y="166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2" name="TextBox 12"/>
          <p:cNvSpPr txBox="1"/>
          <p:nvPr/>
        </p:nvSpPr>
        <p:spPr>
          <a:xfrm>
            <a:off x="1383716" y="2449711"/>
            <a:ext cx="15520568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7000" b="1">
                <a:solidFill>
                  <a:srgbClr val="FFFFFF"/>
                </a:solidFill>
                <a:latin typeface="Times New Roman" panose="02020603050405020304" pitchFamily="18" charset="0"/>
                <a:ea typeface="Neo Sans Bold"/>
                <a:cs typeface="Times New Roman" panose="02020603050405020304" pitchFamily="18" charset="0"/>
                <a:sym typeface="Neo Sans Bold"/>
              </a:rPr>
              <a:t>BÁO CÁO </a:t>
            </a:r>
            <a:r>
              <a:rPr lang="vi-VN" sz="7000" b="1">
                <a:solidFill>
                  <a:srgbClr val="FFFFFF"/>
                </a:solidFill>
                <a:latin typeface="Times New Roman" panose="02020603050405020304" pitchFamily="18" charset="0"/>
                <a:ea typeface="Neo Sans Bold"/>
                <a:cs typeface="Times New Roman" panose="02020603050405020304" pitchFamily="18" charset="0"/>
                <a:sym typeface="Neo Sans Bold"/>
              </a:rPr>
              <a:t>ĐỒ ÁN</a:t>
            </a:r>
            <a:endParaRPr lang="en-US" sz="7000" b="1">
              <a:solidFill>
                <a:srgbClr val="FFFFFF"/>
              </a:solidFill>
              <a:latin typeface="Times New Roman" panose="02020603050405020304" pitchFamily="18" charset="0"/>
              <a:ea typeface="Neo Sans Bold"/>
              <a:cs typeface="Times New Roman" panose="02020603050405020304" pitchFamily="18" charset="0"/>
              <a:sym typeface="Neo Sans Bold"/>
            </a:endParaRPr>
          </a:p>
          <a:p>
            <a:pPr algn="ctr">
              <a:lnSpc>
                <a:spcPts val="10800"/>
              </a:lnSpc>
            </a:pPr>
            <a:endParaRPr lang="en-US" sz="9000" b="1">
              <a:solidFill>
                <a:srgbClr val="FFFFFF"/>
              </a:solidFill>
              <a:latin typeface="Neo Sans Bold"/>
              <a:ea typeface="Neo Sans Bold"/>
              <a:cs typeface="Neo Sans Bold"/>
              <a:sym typeface="Neo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864319" y="422394"/>
            <a:ext cx="10692144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915"/>
              </a:lnSpc>
              <a:spcBef>
                <a:spcPct val="0"/>
              </a:spcBef>
            </a:pPr>
            <a:r>
              <a:rPr lang="en-US" sz="4500" b="1" spc="7">
                <a:solidFill>
                  <a:srgbClr val="FFFFFF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ĐẠI HỌC QUỐC GIA TP. HỒ CHÍ MINH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61996" y="1271735"/>
            <a:ext cx="9764003" cy="976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35"/>
              </a:lnSpc>
            </a:pPr>
            <a:r>
              <a:rPr lang="en-US" sz="3200" b="1" spc="5">
                <a:solidFill>
                  <a:srgbClr val="FFFFFF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TRƯỜNG ĐẠI HỌC CÔNG NGHỆ THÔNG TIN</a:t>
            </a:r>
          </a:p>
          <a:p>
            <a:pPr marL="0" lvl="0" indent="0" algn="ctr">
              <a:lnSpc>
                <a:spcPts val="3935"/>
              </a:lnSpc>
              <a:spcBef>
                <a:spcPct val="0"/>
              </a:spcBef>
            </a:pPr>
            <a:endParaRPr lang="en-US" sz="2811" b="1" spc="5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77179" y="7305628"/>
            <a:ext cx="12925424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0"/>
              </a:lnSpc>
            </a:pPr>
            <a:r>
              <a:rPr lang="en-US" sz="2500" b="1" i="1">
                <a:solidFill>
                  <a:srgbClr val="FFFFFF"/>
                </a:solidFill>
                <a:latin typeface="Times New Roman" panose="02020603050405020304" pitchFamily="18" charset="0"/>
                <a:ea typeface="Neo Sans Bold Italics"/>
                <a:cs typeface="Times New Roman" panose="02020603050405020304" pitchFamily="18" charset="0"/>
                <a:sym typeface="Neo Sans Bold Italics"/>
              </a:rPr>
              <a:t>MÔN HỌC: HỆ THỐNG QUẢN TRỊ QUI TRÌNH NGHIỆP VỤ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7179" y="7859305"/>
            <a:ext cx="12925424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0"/>
              </a:lnSpc>
            </a:pPr>
            <a:r>
              <a:rPr lang="en-US" sz="2500" b="1" i="1">
                <a:solidFill>
                  <a:srgbClr val="FFFFFF"/>
                </a:solidFill>
                <a:latin typeface="Times New Roman" panose="02020603050405020304" pitchFamily="18" charset="0"/>
                <a:ea typeface="Neo Sans Bold Italics"/>
                <a:cs typeface="Times New Roman" panose="02020603050405020304" pitchFamily="18" charset="0"/>
                <a:sym typeface="Neo Sans Bold Italics"/>
              </a:rPr>
              <a:t>GVHD: THS. HÀ LÊ HOÀI TRUNG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144497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317" r="-3317"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1076D">
                    <a:alpha val="64000"/>
                  </a:srgbClr>
                </a:gs>
                <a:gs pos="100000">
                  <a:srgbClr val="144357">
                    <a:alpha val="64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1598616" y="8211064"/>
            <a:ext cx="5244214" cy="1378534"/>
          </a:xfrm>
          <a:custGeom>
            <a:avLst/>
            <a:gdLst/>
            <a:ahLst/>
            <a:cxnLst/>
            <a:rect l="l" t="t" r="r" b="b"/>
            <a:pathLst>
              <a:path w="5244214" h="1378534">
                <a:moveTo>
                  <a:pt x="0" y="0"/>
                </a:moveTo>
                <a:lnTo>
                  <a:pt x="5244213" y="0"/>
                </a:lnTo>
                <a:lnTo>
                  <a:pt x="5244213" y="1378534"/>
                </a:lnTo>
                <a:lnTo>
                  <a:pt x="0" y="13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Freeform 8"/>
          <p:cNvSpPr/>
          <p:nvPr/>
        </p:nvSpPr>
        <p:spPr>
          <a:xfrm flipH="1">
            <a:off x="15255366" y="2532697"/>
            <a:ext cx="5244214" cy="1378534"/>
          </a:xfrm>
          <a:custGeom>
            <a:avLst/>
            <a:gdLst/>
            <a:ahLst/>
            <a:cxnLst/>
            <a:rect l="l" t="t" r="r" b="b"/>
            <a:pathLst>
              <a:path w="5244214" h="1378534">
                <a:moveTo>
                  <a:pt x="5244214" y="0"/>
                </a:moveTo>
                <a:lnTo>
                  <a:pt x="0" y="0"/>
                </a:lnTo>
                <a:lnTo>
                  <a:pt x="0" y="1378534"/>
                </a:lnTo>
                <a:lnTo>
                  <a:pt x="5244214" y="1378534"/>
                </a:lnTo>
                <a:lnTo>
                  <a:pt x="524421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1143085" y="2238919"/>
            <a:ext cx="1658436" cy="1603308"/>
          </a:xfrm>
          <a:custGeom>
            <a:avLst/>
            <a:gdLst/>
            <a:ahLst/>
            <a:cxnLst/>
            <a:rect l="l" t="t" r="r" b="b"/>
            <a:pathLst>
              <a:path w="1658436" h="1603308">
                <a:moveTo>
                  <a:pt x="0" y="0"/>
                </a:moveTo>
                <a:lnTo>
                  <a:pt x="1658436" y="0"/>
                </a:lnTo>
                <a:lnTo>
                  <a:pt x="1658436" y="1603308"/>
                </a:lnTo>
                <a:lnTo>
                  <a:pt x="0" y="1603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TextBox 10"/>
          <p:cNvSpPr txBox="1"/>
          <p:nvPr/>
        </p:nvSpPr>
        <p:spPr>
          <a:xfrm>
            <a:off x="1972303" y="3272858"/>
            <a:ext cx="15653350" cy="247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 b="1">
                <a:solidFill>
                  <a:srgbClr val="00FFD1"/>
                </a:solidFill>
                <a:latin typeface="Times New Roman" panose="02020603050405020304" pitchFamily="18" charset="0"/>
                <a:ea typeface="Neo Sans Bold"/>
                <a:cs typeface="Times New Roman" panose="02020603050405020304" pitchFamily="18" charset="0"/>
                <a:sym typeface="Neo Sans Bold"/>
              </a:rPr>
              <a:t>CẢM ƠN</a:t>
            </a:r>
          </a:p>
        </p:txBody>
      </p:sp>
      <p:sp>
        <p:nvSpPr>
          <p:cNvPr id="11" name="Freeform 11"/>
          <p:cNvSpPr/>
          <p:nvPr/>
        </p:nvSpPr>
        <p:spPr>
          <a:xfrm>
            <a:off x="15419047" y="7357765"/>
            <a:ext cx="1725868" cy="1668498"/>
          </a:xfrm>
          <a:custGeom>
            <a:avLst/>
            <a:gdLst/>
            <a:ahLst/>
            <a:cxnLst/>
            <a:rect l="l" t="t" r="r" b="b"/>
            <a:pathLst>
              <a:path w="1725868" h="1668498">
                <a:moveTo>
                  <a:pt x="0" y="0"/>
                </a:moveTo>
                <a:lnTo>
                  <a:pt x="1725868" y="0"/>
                </a:lnTo>
                <a:lnTo>
                  <a:pt x="1725868" y="1668498"/>
                </a:lnTo>
                <a:lnTo>
                  <a:pt x="0" y="166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F709FEDB-8657-4FD1-981E-40A14A70ACB1}"/>
              </a:ext>
            </a:extLst>
          </p:cNvPr>
          <p:cNvSpPr txBox="1"/>
          <p:nvPr/>
        </p:nvSpPr>
        <p:spPr>
          <a:xfrm>
            <a:off x="3864319" y="422394"/>
            <a:ext cx="10692144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915"/>
              </a:lnSpc>
              <a:spcBef>
                <a:spcPct val="0"/>
              </a:spcBef>
            </a:pPr>
            <a:r>
              <a:rPr lang="en-US" sz="4500" b="1" spc="7">
                <a:solidFill>
                  <a:srgbClr val="FFFFFF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ĐẠI HỌC QUỐC GIA TP. HỒ CHÍ MINH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DCC00FEF-2726-9FE2-0E54-973BE308091E}"/>
              </a:ext>
            </a:extLst>
          </p:cNvPr>
          <p:cNvSpPr txBox="1"/>
          <p:nvPr/>
        </p:nvSpPr>
        <p:spPr>
          <a:xfrm>
            <a:off x="4261996" y="1271735"/>
            <a:ext cx="9764003" cy="976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35"/>
              </a:lnSpc>
            </a:pPr>
            <a:r>
              <a:rPr lang="en-US" sz="3200" b="1" spc="5">
                <a:solidFill>
                  <a:srgbClr val="FFFFFF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TRƯỜNG ĐẠI HỌC CÔNG NGHỆ THÔNG TIN</a:t>
            </a:r>
          </a:p>
          <a:p>
            <a:pPr marL="0" lvl="0" indent="0" algn="ctr">
              <a:lnSpc>
                <a:spcPts val="3935"/>
              </a:lnSpc>
              <a:spcBef>
                <a:spcPct val="0"/>
              </a:spcBef>
            </a:pPr>
            <a:endParaRPr lang="en-US" sz="2811" b="1" spc="5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0B66321C-C152-B321-FDF5-AD54751AA13C}"/>
              </a:ext>
            </a:extLst>
          </p:cNvPr>
          <p:cNvSpPr txBox="1"/>
          <p:nvPr/>
        </p:nvSpPr>
        <p:spPr>
          <a:xfrm>
            <a:off x="877179" y="7305628"/>
            <a:ext cx="12925424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0"/>
              </a:lnSpc>
            </a:pPr>
            <a:r>
              <a:rPr lang="en-US" sz="2500" b="1" i="1">
                <a:solidFill>
                  <a:srgbClr val="FFFFFF"/>
                </a:solidFill>
                <a:latin typeface="Times New Roman" panose="02020603050405020304" pitchFamily="18" charset="0"/>
                <a:ea typeface="Neo Sans Bold Italics"/>
                <a:cs typeface="Times New Roman" panose="02020603050405020304" pitchFamily="18" charset="0"/>
                <a:sym typeface="Neo Sans Bold Italics"/>
              </a:rPr>
              <a:t>MÔN HỌC: HỆ THỐNG QUẢN TRỊ QUI TRÌNH NGHIỆP VỤ</a:t>
            </a:r>
          </a:p>
        </p:txBody>
      </p:sp>
      <p:sp>
        <p:nvSpPr>
          <p:cNvPr id="32" name="TextBox 16">
            <a:extLst>
              <a:ext uri="{FF2B5EF4-FFF2-40B4-BE49-F238E27FC236}">
                <a16:creationId xmlns:a16="http://schemas.microsoft.com/office/drawing/2014/main" id="{A63E40DB-43DA-3FEC-FAF7-964EBB8BAA5C}"/>
              </a:ext>
            </a:extLst>
          </p:cNvPr>
          <p:cNvSpPr txBox="1"/>
          <p:nvPr/>
        </p:nvSpPr>
        <p:spPr>
          <a:xfrm>
            <a:off x="877179" y="7859305"/>
            <a:ext cx="12925424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0"/>
              </a:lnSpc>
            </a:pPr>
            <a:r>
              <a:rPr lang="en-US" sz="2500" b="1" i="1">
                <a:solidFill>
                  <a:srgbClr val="FFFFFF"/>
                </a:solidFill>
                <a:latin typeface="Times New Roman" panose="02020603050405020304" pitchFamily="18" charset="0"/>
                <a:ea typeface="Neo Sans Bold Italics"/>
                <a:cs typeface="Times New Roman" panose="02020603050405020304" pitchFamily="18" charset="0"/>
                <a:sym typeface="Neo Sans Bold Italics"/>
              </a:rPr>
              <a:t>GVHD: THS. HÀ LÊ HOÀI TRUNG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144497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317" r="-3317"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1076D">
                    <a:alpha val="64000"/>
                  </a:srgbClr>
                </a:gs>
                <a:gs pos="100000">
                  <a:srgbClr val="144357">
                    <a:alpha val="64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1598616" y="8211064"/>
            <a:ext cx="5244214" cy="1378534"/>
          </a:xfrm>
          <a:custGeom>
            <a:avLst/>
            <a:gdLst/>
            <a:ahLst/>
            <a:cxnLst/>
            <a:rect l="l" t="t" r="r" b="b"/>
            <a:pathLst>
              <a:path w="5244214" h="1378534">
                <a:moveTo>
                  <a:pt x="0" y="0"/>
                </a:moveTo>
                <a:lnTo>
                  <a:pt x="5244213" y="0"/>
                </a:lnTo>
                <a:lnTo>
                  <a:pt x="5244213" y="1378534"/>
                </a:lnTo>
                <a:lnTo>
                  <a:pt x="0" y="13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Freeform 8"/>
          <p:cNvSpPr/>
          <p:nvPr/>
        </p:nvSpPr>
        <p:spPr>
          <a:xfrm flipH="1">
            <a:off x="15255366" y="2532697"/>
            <a:ext cx="5244214" cy="1378534"/>
          </a:xfrm>
          <a:custGeom>
            <a:avLst/>
            <a:gdLst/>
            <a:ahLst/>
            <a:cxnLst/>
            <a:rect l="l" t="t" r="r" b="b"/>
            <a:pathLst>
              <a:path w="5244214" h="1378534">
                <a:moveTo>
                  <a:pt x="5244214" y="0"/>
                </a:moveTo>
                <a:lnTo>
                  <a:pt x="0" y="0"/>
                </a:lnTo>
                <a:lnTo>
                  <a:pt x="0" y="1378534"/>
                </a:lnTo>
                <a:lnTo>
                  <a:pt x="5244214" y="1378534"/>
                </a:lnTo>
                <a:lnTo>
                  <a:pt x="524421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1143085" y="2238919"/>
            <a:ext cx="1658436" cy="1603308"/>
          </a:xfrm>
          <a:custGeom>
            <a:avLst/>
            <a:gdLst/>
            <a:ahLst/>
            <a:cxnLst/>
            <a:rect l="l" t="t" r="r" b="b"/>
            <a:pathLst>
              <a:path w="1658436" h="1603308">
                <a:moveTo>
                  <a:pt x="0" y="0"/>
                </a:moveTo>
                <a:lnTo>
                  <a:pt x="1658436" y="0"/>
                </a:lnTo>
                <a:lnTo>
                  <a:pt x="1658436" y="1603308"/>
                </a:lnTo>
                <a:lnTo>
                  <a:pt x="0" y="1603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/>
          <p:cNvSpPr/>
          <p:nvPr/>
        </p:nvSpPr>
        <p:spPr>
          <a:xfrm>
            <a:off x="15419047" y="7357765"/>
            <a:ext cx="1725868" cy="1668498"/>
          </a:xfrm>
          <a:custGeom>
            <a:avLst/>
            <a:gdLst/>
            <a:ahLst/>
            <a:cxnLst/>
            <a:rect l="l" t="t" r="r" b="b"/>
            <a:pathLst>
              <a:path w="1725868" h="1668498">
                <a:moveTo>
                  <a:pt x="0" y="0"/>
                </a:moveTo>
                <a:lnTo>
                  <a:pt x="1725868" y="0"/>
                </a:lnTo>
                <a:lnTo>
                  <a:pt x="1725868" y="1668498"/>
                </a:lnTo>
                <a:lnTo>
                  <a:pt x="0" y="166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Freeform 11"/>
          <p:cNvSpPr/>
          <p:nvPr/>
        </p:nvSpPr>
        <p:spPr>
          <a:xfrm flipH="1">
            <a:off x="15255366" y="2293091"/>
            <a:ext cx="4114800" cy="680812"/>
          </a:xfrm>
          <a:custGeom>
            <a:avLst/>
            <a:gdLst/>
            <a:ahLst/>
            <a:cxnLst/>
            <a:rect l="l" t="t" r="r" b="b"/>
            <a:pathLst>
              <a:path w="4114800" h="680812">
                <a:moveTo>
                  <a:pt x="4114800" y="0"/>
                </a:moveTo>
                <a:lnTo>
                  <a:pt x="0" y="0"/>
                </a:lnTo>
                <a:lnTo>
                  <a:pt x="0" y="680813"/>
                </a:lnTo>
                <a:lnTo>
                  <a:pt x="4114800" y="680813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2" name="TextBox 12"/>
          <p:cNvSpPr txBox="1"/>
          <p:nvPr/>
        </p:nvSpPr>
        <p:spPr>
          <a:xfrm>
            <a:off x="4579664" y="1576707"/>
            <a:ext cx="897855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b="1">
                <a:solidFill>
                  <a:srgbClr val="00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THÀNH VIÊN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47109" y="3685688"/>
            <a:ext cx="9233690" cy="463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11"/>
              </a:lnSpc>
              <a:spcBef>
                <a:spcPct val="0"/>
              </a:spcBef>
            </a:pPr>
            <a:r>
              <a:rPr lang="en-US" sz="3000" b="1" spc="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Nguyễn Thị Xuân Ngọc - 24730122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972303" y="3217800"/>
            <a:ext cx="14309678" cy="5330568"/>
            <a:chOff x="0" y="0"/>
            <a:chExt cx="19079570" cy="7107424"/>
          </a:xfrm>
        </p:grpSpPr>
        <p:grpSp>
          <p:nvGrpSpPr>
            <p:cNvPr id="40" name="Group 40"/>
            <p:cNvGrpSpPr/>
            <p:nvPr/>
          </p:nvGrpSpPr>
          <p:grpSpPr>
            <a:xfrm>
              <a:off x="759617" y="0"/>
              <a:ext cx="16623682" cy="5880688"/>
              <a:chOff x="0" y="0"/>
              <a:chExt cx="3123801" cy="110505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3123801" cy="1105056"/>
              </a:xfrm>
              <a:custGeom>
                <a:avLst/>
                <a:gdLst/>
                <a:ahLst/>
                <a:cxnLst/>
                <a:rect l="l" t="t" r="r" b="b"/>
                <a:pathLst>
                  <a:path w="3123801" h="1105056">
                    <a:moveTo>
                      <a:pt x="33290" y="0"/>
                    </a:moveTo>
                    <a:lnTo>
                      <a:pt x="3090511" y="0"/>
                    </a:lnTo>
                    <a:cubicBezTo>
                      <a:pt x="3108896" y="0"/>
                      <a:pt x="3123801" y="14904"/>
                      <a:pt x="3123801" y="33290"/>
                    </a:cubicBezTo>
                    <a:lnTo>
                      <a:pt x="3123801" y="1071766"/>
                    </a:lnTo>
                    <a:cubicBezTo>
                      <a:pt x="3123801" y="1080595"/>
                      <a:pt x="3120293" y="1089062"/>
                      <a:pt x="3114050" y="1095306"/>
                    </a:cubicBezTo>
                    <a:cubicBezTo>
                      <a:pt x="3107807" y="1101549"/>
                      <a:pt x="3099340" y="1105056"/>
                      <a:pt x="3090511" y="1105056"/>
                    </a:cubicBezTo>
                    <a:lnTo>
                      <a:pt x="33290" y="1105056"/>
                    </a:lnTo>
                    <a:cubicBezTo>
                      <a:pt x="14904" y="1105056"/>
                      <a:pt x="0" y="1090151"/>
                      <a:pt x="0" y="1071766"/>
                    </a:cubicBezTo>
                    <a:lnTo>
                      <a:pt x="0" y="33290"/>
                    </a:lnTo>
                    <a:cubicBezTo>
                      <a:pt x="0" y="14904"/>
                      <a:pt x="14904" y="0"/>
                      <a:pt x="33290" y="0"/>
                    </a:cubicBezTo>
                    <a:close/>
                  </a:path>
                </a:pathLst>
              </a:custGeom>
              <a:ln w="47625" cap="rnd">
                <a:gradFill>
                  <a:gsLst>
                    <a:gs pos="0">
                      <a:srgbClr val="004AB8">
                        <a:alpha val="100000"/>
                      </a:srgbClr>
                    </a:gs>
                    <a:gs pos="100000">
                      <a:srgbClr val="00FFD1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vi-VN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66675"/>
                <a:ext cx="3123801" cy="11717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0" y="6624104"/>
              <a:ext cx="19079570" cy="483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69"/>
                </a:lnSpc>
              </a:pPr>
              <a:endParaRPr/>
            </a:p>
          </p:txBody>
        </p:sp>
      </p:grpSp>
      <p:sp>
        <p:nvSpPr>
          <p:cNvPr id="44" name="TextBox 13">
            <a:extLst>
              <a:ext uri="{FF2B5EF4-FFF2-40B4-BE49-F238E27FC236}">
                <a16:creationId xmlns:a16="http://schemas.microsoft.com/office/drawing/2014/main" id="{9AC0E9B8-F133-0AA6-2BAF-55D4D6DBC503}"/>
              </a:ext>
            </a:extLst>
          </p:cNvPr>
          <p:cNvSpPr txBox="1"/>
          <p:nvPr/>
        </p:nvSpPr>
        <p:spPr>
          <a:xfrm>
            <a:off x="3047109" y="5608627"/>
            <a:ext cx="9233690" cy="463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11"/>
              </a:lnSpc>
              <a:spcBef>
                <a:spcPct val="0"/>
              </a:spcBef>
            </a:pPr>
            <a:r>
              <a:rPr lang="en-US" sz="3000" b="1" spc="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Phan Doãn Luân - 24730111</a:t>
            </a:r>
          </a:p>
        </p:txBody>
      </p:sp>
      <p:sp>
        <p:nvSpPr>
          <p:cNvPr id="55" name="TextBox 13">
            <a:extLst>
              <a:ext uri="{FF2B5EF4-FFF2-40B4-BE49-F238E27FC236}">
                <a16:creationId xmlns:a16="http://schemas.microsoft.com/office/drawing/2014/main" id="{5D0CD116-C30C-15C9-91D3-7A5A01FE3FDC}"/>
              </a:ext>
            </a:extLst>
          </p:cNvPr>
          <p:cNvSpPr txBox="1"/>
          <p:nvPr/>
        </p:nvSpPr>
        <p:spPr>
          <a:xfrm>
            <a:off x="3047109" y="4373887"/>
            <a:ext cx="9233690" cy="463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11"/>
              </a:lnSpc>
              <a:spcBef>
                <a:spcPct val="0"/>
              </a:spcBef>
            </a:pPr>
            <a:r>
              <a:rPr lang="en-US" sz="3000" b="1" spc="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Nguyễn Ngọc Quang – 24730135</a:t>
            </a:r>
          </a:p>
        </p:txBody>
      </p:sp>
      <p:sp>
        <p:nvSpPr>
          <p:cNvPr id="57" name="TextBox 13">
            <a:extLst>
              <a:ext uri="{FF2B5EF4-FFF2-40B4-BE49-F238E27FC236}">
                <a16:creationId xmlns:a16="http://schemas.microsoft.com/office/drawing/2014/main" id="{93DB9727-51E0-EACB-1BF2-6DDB54B053C3}"/>
              </a:ext>
            </a:extLst>
          </p:cNvPr>
          <p:cNvSpPr txBox="1"/>
          <p:nvPr/>
        </p:nvSpPr>
        <p:spPr>
          <a:xfrm>
            <a:off x="3062349" y="6213046"/>
            <a:ext cx="9233690" cy="463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11"/>
              </a:lnSpc>
              <a:spcBef>
                <a:spcPct val="0"/>
              </a:spcBef>
            </a:pPr>
            <a:r>
              <a:rPr lang="en-US" sz="3000" b="1" spc="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Phạm Đức Hải - 24730095</a:t>
            </a:r>
          </a:p>
        </p:txBody>
      </p:sp>
      <p:sp>
        <p:nvSpPr>
          <p:cNvPr id="58" name="TextBox 13">
            <a:extLst>
              <a:ext uri="{FF2B5EF4-FFF2-40B4-BE49-F238E27FC236}">
                <a16:creationId xmlns:a16="http://schemas.microsoft.com/office/drawing/2014/main" id="{796F38BF-8929-A972-6D8A-F51E45C3FA66}"/>
              </a:ext>
            </a:extLst>
          </p:cNvPr>
          <p:cNvSpPr txBox="1"/>
          <p:nvPr/>
        </p:nvSpPr>
        <p:spPr>
          <a:xfrm>
            <a:off x="3047109" y="4938752"/>
            <a:ext cx="9233690" cy="463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11"/>
              </a:lnSpc>
              <a:spcBef>
                <a:spcPct val="0"/>
              </a:spcBef>
            </a:pPr>
            <a:r>
              <a:rPr lang="vi-VN" sz="3000" b="1" spc="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Võ Trường Phúc - 24730133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144497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317" r="-3317"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1076D">
                    <a:alpha val="64000"/>
                  </a:srgbClr>
                </a:gs>
                <a:gs pos="100000">
                  <a:srgbClr val="144357">
                    <a:alpha val="64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1598616" y="8211064"/>
            <a:ext cx="5244214" cy="1378534"/>
          </a:xfrm>
          <a:custGeom>
            <a:avLst/>
            <a:gdLst/>
            <a:ahLst/>
            <a:cxnLst/>
            <a:rect l="l" t="t" r="r" b="b"/>
            <a:pathLst>
              <a:path w="5244214" h="1378534">
                <a:moveTo>
                  <a:pt x="0" y="0"/>
                </a:moveTo>
                <a:lnTo>
                  <a:pt x="5244213" y="0"/>
                </a:lnTo>
                <a:lnTo>
                  <a:pt x="5244213" y="1378534"/>
                </a:lnTo>
                <a:lnTo>
                  <a:pt x="0" y="13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Freeform 8"/>
          <p:cNvSpPr/>
          <p:nvPr/>
        </p:nvSpPr>
        <p:spPr>
          <a:xfrm flipH="1">
            <a:off x="15255366" y="2532697"/>
            <a:ext cx="5244214" cy="1378534"/>
          </a:xfrm>
          <a:custGeom>
            <a:avLst/>
            <a:gdLst/>
            <a:ahLst/>
            <a:cxnLst/>
            <a:rect l="l" t="t" r="r" b="b"/>
            <a:pathLst>
              <a:path w="5244214" h="1378534">
                <a:moveTo>
                  <a:pt x="5244214" y="0"/>
                </a:moveTo>
                <a:lnTo>
                  <a:pt x="0" y="0"/>
                </a:lnTo>
                <a:lnTo>
                  <a:pt x="0" y="1378534"/>
                </a:lnTo>
                <a:lnTo>
                  <a:pt x="5244214" y="1378534"/>
                </a:lnTo>
                <a:lnTo>
                  <a:pt x="524421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1441909" y="929389"/>
            <a:ext cx="1658436" cy="1603308"/>
          </a:xfrm>
          <a:custGeom>
            <a:avLst/>
            <a:gdLst/>
            <a:ahLst/>
            <a:cxnLst/>
            <a:rect l="l" t="t" r="r" b="b"/>
            <a:pathLst>
              <a:path w="1658436" h="1603308">
                <a:moveTo>
                  <a:pt x="0" y="0"/>
                </a:moveTo>
                <a:lnTo>
                  <a:pt x="1658435" y="0"/>
                </a:lnTo>
                <a:lnTo>
                  <a:pt x="1658435" y="1603308"/>
                </a:lnTo>
                <a:lnTo>
                  <a:pt x="0" y="1603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/>
          <p:cNvSpPr/>
          <p:nvPr/>
        </p:nvSpPr>
        <p:spPr>
          <a:xfrm>
            <a:off x="15419047" y="7357765"/>
            <a:ext cx="1725868" cy="1668498"/>
          </a:xfrm>
          <a:custGeom>
            <a:avLst/>
            <a:gdLst/>
            <a:ahLst/>
            <a:cxnLst/>
            <a:rect l="l" t="t" r="r" b="b"/>
            <a:pathLst>
              <a:path w="1725868" h="1668498">
                <a:moveTo>
                  <a:pt x="0" y="0"/>
                </a:moveTo>
                <a:lnTo>
                  <a:pt x="1725868" y="0"/>
                </a:lnTo>
                <a:lnTo>
                  <a:pt x="1725868" y="1668498"/>
                </a:lnTo>
                <a:lnTo>
                  <a:pt x="0" y="166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Freeform 11"/>
          <p:cNvSpPr/>
          <p:nvPr/>
        </p:nvSpPr>
        <p:spPr>
          <a:xfrm flipH="1">
            <a:off x="15255366" y="2293091"/>
            <a:ext cx="4114800" cy="680812"/>
          </a:xfrm>
          <a:custGeom>
            <a:avLst/>
            <a:gdLst/>
            <a:ahLst/>
            <a:cxnLst/>
            <a:rect l="l" t="t" r="r" b="b"/>
            <a:pathLst>
              <a:path w="4114800" h="680812">
                <a:moveTo>
                  <a:pt x="4114800" y="0"/>
                </a:moveTo>
                <a:lnTo>
                  <a:pt x="0" y="0"/>
                </a:lnTo>
                <a:lnTo>
                  <a:pt x="0" y="680813"/>
                </a:lnTo>
                <a:lnTo>
                  <a:pt x="4114800" y="680813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2" name="TextBox 12"/>
          <p:cNvSpPr txBox="1"/>
          <p:nvPr/>
        </p:nvSpPr>
        <p:spPr>
          <a:xfrm>
            <a:off x="1972303" y="2840548"/>
            <a:ext cx="8344894" cy="1774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0"/>
              </a:lnSpc>
            </a:pPr>
            <a:r>
              <a:rPr lang="en-US" sz="10200" b="1">
                <a:solidFill>
                  <a:srgbClr val="00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NỘI DUNG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72303" y="4332198"/>
            <a:ext cx="15826175" cy="11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just">
              <a:lnSpc>
                <a:spcPts val="10550"/>
              </a:lnSpc>
              <a:buFont typeface="Arial"/>
              <a:buChar char="•"/>
            </a:pPr>
            <a:r>
              <a:rPr lang="vi-VN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CHƯƠNG 1: </a:t>
            </a: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TỔNG QUAN VỀ CÔNG TY TNHH HASAKI BEAUTY &amp; S.P.A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227632-CCF5-C679-3C13-F7C92AFA8AF1}"/>
              </a:ext>
            </a:extLst>
          </p:cNvPr>
          <p:cNvSpPr txBox="1"/>
          <p:nvPr/>
        </p:nvSpPr>
        <p:spPr>
          <a:xfrm>
            <a:off x="1972299" y="5253111"/>
            <a:ext cx="15826175" cy="11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just">
              <a:lnSpc>
                <a:spcPts val="10550"/>
              </a:lnSpc>
              <a:buFont typeface="Arial"/>
              <a:buChar char="•"/>
            </a:pPr>
            <a:r>
              <a:rPr lang="vi-VN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CHƯƠNG </a:t>
            </a: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2: HỆ THỐNG QUY TRÌNH NGHIỆP VỤ TẠI HASAKI BEAUTY &amp; S.P.A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B5C403-1D70-F459-055C-87594F8975E6}"/>
              </a:ext>
            </a:extLst>
          </p:cNvPr>
          <p:cNvSpPr txBox="1"/>
          <p:nvPr/>
        </p:nvSpPr>
        <p:spPr>
          <a:xfrm>
            <a:off x="1987537" y="6128842"/>
            <a:ext cx="15826175" cy="11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just">
              <a:lnSpc>
                <a:spcPts val="10550"/>
              </a:lnSpc>
              <a:buFont typeface="Arial"/>
              <a:buChar char="•"/>
            </a:pPr>
            <a:r>
              <a:rPr lang="vi-VN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CHƯƠNG 3: MÔ HÌNH HÓA QUY TRÌNH NGHIỆP TẠI </a:t>
            </a: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HASAKI BEAUTY &amp; S.P.A</a:t>
            </a:r>
            <a:r>
              <a:rPr lang="vi-VN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endParaRPr lang="en-US" sz="30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B9DBA6-8E14-96BE-AC15-58624E8F60D6}"/>
              </a:ext>
            </a:extLst>
          </p:cNvPr>
          <p:cNvSpPr txBox="1"/>
          <p:nvPr/>
        </p:nvSpPr>
        <p:spPr>
          <a:xfrm>
            <a:off x="2020818" y="6979889"/>
            <a:ext cx="15826175" cy="112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just">
              <a:lnSpc>
                <a:spcPts val="10550"/>
              </a:lnSpc>
              <a:buFont typeface="Arial"/>
              <a:buChar char="•"/>
            </a:pPr>
            <a:r>
              <a:rPr lang="vi-VN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CHƯƠNG 4: PHÂN TÍCH QUY TRÌNH NGHIỆP VỤ </a:t>
            </a: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HASAKI BEAUTY &amp; S.P.A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144497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317" r="-3317"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1076D">
                    <a:alpha val="64000"/>
                  </a:srgbClr>
                </a:gs>
                <a:gs pos="100000">
                  <a:srgbClr val="144357">
                    <a:alpha val="64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1598616" y="8211064"/>
            <a:ext cx="5244214" cy="1378534"/>
          </a:xfrm>
          <a:custGeom>
            <a:avLst/>
            <a:gdLst/>
            <a:ahLst/>
            <a:cxnLst/>
            <a:rect l="l" t="t" r="r" b="b"/>
            <a:pathLst>
              <a:path w="5244214" h="1378534">
                <a:moveTo>
                  <a:pt x="0" y="0"/>
                </a:moveTo>
                <a:lnTo>
                  <a:pt x="5244213" y="0"/>
                </a:lnTo>
                <a:lnTo>
                  <a:pt x="5244213" y="1378534"/>
                </a:lnTo>
                <a:lnTo>
                  <a:pt x="0" y="13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Freeform 8"/>
          <p:cNvSpPr/>
          <p:nvPr/>
        </p:nvSpPr>
        <p:spPr>
          <a:xfrm flipH="1">
            <a:off x="15255366" y="2532697"/>
            <a:ext cx="5244214" cy="1378534"/>
          </a:xfrm>
          <a:custGeom>
            <a:avLst/>
            <a:gdLst/>
            <a:ahLst/>
            <a:cxnLst/>
            <a:rect l="l" t="t" r="r" b="b"/>
            <a:pathLst>
              <a:path w="5244214" h="1378534">
                <a:moveTo>
                  <a:pt x="5244214" y="0"/>
                </a:moveTo>
                <a:lnTo>
                  <a:pt x="0" y="0"/>
                </a:lnTo>
                <a:lnTo>
                  <a:pt x="0" y="1378534"/>
                </a:lnTo>
                <a:lnTo>
                  <a:pt x="5244214" y="1378534"/>
                </a:lnTo>
                <a:lnTo>
                  <a:pt x="524421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/>
          <p:cNvSpPr/>
          <p:nvPr/>
        </p:nvSpPr>
        <p:spPr>
          <a:xfrm>
            <a:off x="1441909" y="929389"/>
            <a:ext cx="1658436" cy="1603308"/>
          </a:xfrm>
          <a:custGeom>
            <a:avLst/>
            <a:gdLst/>
            <a:ahLst/>
            <a:cxnLst/>
            <a:rect l="l" t="t" r="r" b="b"/>
            <a:pathLst>
              <a:path w="1658436" h="1603308">
                <a:moveTo>
                  <a:pt x="0" y="0"/>
                </a:moveTo>
                <a:lnTo>
                  <a:pt x="1658435" y="0"/>
                </a:lnTo>
                <a:lnTo>
                  <a:pt x="1658435" y="1603308"/>
                </a:lnTo>
                <a:lnTo>
                  <a:pt x="0" y="1603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/>
          <p:cNvSpPr/>
          <p:nvPr/>
        </p:nvSpPr>
        <p:spPr>
          <a:xfrm>
            <a:off x="15419047" y="7357765"/>
            <a:ext cx="1725868" cy="1668498"/>
          </a:xfrm>
          <a:custGeom>
            <a:avLst/>
            <a:gdLst/>
            <a:ahLst/>
            <a:cxnLst/>
            <a:rect l="l" t="t" r="r" b="b"/>
            <a:pathLst>
              <a:path w="1725868" h="1668498">
                <a:moveTo>
                  <a:pt x="0" y="0"/>
                </a:moveTo>
                <a:lnTo>
                  <a:pt x="1725868" y="0"/>
                </a:lnTo>
                <a:lnTo>
                  <a:pt x="1725868" y="1668498"/>
                </a:lnTo>
                <a:lnTo>
                  <a:pt x="0" y="166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Freeform 11"/>
          <p:cNvSpPr/>
          <p:nvPr/>
        </p:nvSpPr>
        <p:spPr>
          <a:xfrm flipH="1">
            <a:off x="15255366" y="2293091"/>
            <a:ext cx="4114800" cy="680812"/>
          </a:xfrm>
          <a:custGeom>
            <a:avLst/>
            <a:gdLst/>
            <a:ahLst/>
            <a:cxnLst/>
            <a:rect l="l" t="t" r="r" b="b"/>
            <a:pathLst>
              <a:path w="4114800" h="680812">
                <a:moveTo>
                  <a:pt x="4114800" y="0"/>
                </a:moveTo>
                <a:lnTo>
                  <a:pt x="0" y="0"/>
                </a:lnTo>
                <a:lnTo>
                  <a:pt x="0" y="680813"/>
                </a:lnTo>
                <a:lnTo>
                  <a:pt x="4114800" y="680813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2" name="TextBox 12"/>
          <p:cNvSpPr txBox="1"/>
          <p:nvPr/>
        </p:nvSpPr>
        <p:spPr>
          <a:xfrm>
            <a:off x="998279" y="3545996"/>
            <a:ext cx="17830800" cy="2874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vi-VN" sz="8000" b="1">
                <a:solidFill>
                  <a:srgbClr val="00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CHƯƠNG 1</a:t>
            </a:r>
            <a:endParaRPr lang="en-US" sz="8000" b="1">
              <a:solidFill>
                <a:srgbClr val="00FFFF"/>
              </a:solidFill>
              <a:latin typeface="Neo Sans Bold"/>
              <a:ea typeface="Neo Sans Bold"/>
              <a:cs typeface="Neo Sans Bold"/>
              <a:sym typeface="Neo Sans Bold"/>
            </a:endParaRPr>
          </a:p>
          <a:p>
            <a:pPr algn="l">
              <a:lnSpc>
                <a:spcPct val="150000"/>
              </a:lnSpc>
            </a:pPr>
            <a:r>
              <a:rPr lang="vi-VN" sz="5000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TỔNG QUAN VỀ CÔNG TY TNHH HASAKI BEAUTY &amp; S.P.A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48D04-3612-C7A8-721C-A0735D1DB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E6FF388-F77F-18CA-0AB6-B0AD8775416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1444978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18C3F97-D5DD-3574-6330-58AE3B128B04}"/>
                </a:ext>
              </a:extLst>
            </p:cNvPr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317" r="-3317"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431A055-B35E-10FF-4D43-6DADE8B37896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B8AE932-938D-6B93-19E6-4A223A178BF2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1076D">
                    <a:alpha val="64000"/>
                  </a:srgbClr>
                </a:gs>
                <a:gs pos="100000">
                  <a:srgbClr val="144357">
                    <a:alpha val="64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719BE6F-3FE2-29FA-CCF1-A9645EAE2F03}"/>
                </a:ext>
              </a:extLst>
            </p:cNvPr>
            <p:cNvSpPr txBox="1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D86B0FA-79E0-549D-B58C-4C4B2B5AD476}"/>
              </a:ext>
            </a:extLst>
          </p:cNvPr>
          <p:cNvSpPr/>
          <p:nvPr/>
        </p:nvSpPr>
        <p:spPr>
          <a:xfrm>
            <a:off x="-1598616" y="8211064"/>
            <a:ext cx="5244214" cy="1378534"/>
          </a:xfrm>
          <a:custGeom>
            <a:avLst/>
            <a:gdLst/>
            <a:ahLst/>
            <a:cxnLst/>
            <a:rect l="l" t="t" r="r" b="b"/>
            <a:pathLst>
              <a:path w="5244214" h="1378534">
                <a:moveTo>
                  <a:pt x="0" y="0"/>
                </a:moveTo>
                <a:lnTo>
                  <a:pt x="5244213" y="0"/>
                </a:lnTo>
                <a:lnTo>
                  <a:pt x="5244213" y="1378534"/>
                </a:lnTo>
                <a:lnTo>
                  <a:pt x="0" y="13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3031FCD-2FC8-AE79-F9AB-F1F1E400D41F}"/>
              </a:ext>
            </a:extLst>
          </p:cNvPr>
          <p:cNvSpPr/>
          <p:nvPr/>
        </p:nvSpPr>
        <p:spPr>
          <a:xfrm flipH="1">
            <a:off x="15255366" y="2532697"/>
            <a:ext cx="5244214" cy="1378534"/>
          </a:xfrm>
          <a:custGeom>
            <a:avLst/>
            <a:gdLst/>
            <a:ahLst/>
            <a:cxnLst/>
            <a:rect l="l" t="t" r="r" b="b"/>
            <a:pathLst>
              <a:path w="5244214" h="1378534">
                <a:moveTo>
                  <a:pt x="5244214" y="0"/>
                </a:moveTo>
                <a:lnTo>
                  <a:pt x="0" y="0"/>
                </a:lnTo>
                <a:lnTo>
                  <a:pt x="0" y="1378534"/>
                </a:lnTo>
                <a:lnTo>
                  <a:pt x="5244214" y="1378534"/>
                </a:lnTo>
                <a:lnTo>
                  <a:pt x="524421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9DE1BDA-FC21-05B1-C741-21681E5ACFF6}"/>
              </a:ext>
            </a:extLst>
          </p:cNvPr>
          <p:cNvSpPr/>
          <p:nvPr/>
        </p:nvSpPr>
        <p:spPr>
          <a:xfrm>
            <a:off x="1441909" y="929389"/>
            <a:ext cx="1658436" cy="1603308"/>
          </a:xfrm>
          <a:custGeom>
            <a:avLst/>
            <a:gdLst/>
            <a:ahLst/>
            <a:cxnLst/>
            <a:rect l="l" t="t" r="r" b="b"/>
            <a:pathLst>
              <a:path w="1658436" h="1603308">
                <a:moveTo>
                  <a:pt x="0" y="0"/>
                </a:moveTo>
                <a:lnTo>
                  <a:pt x="1658435" y="0"/>
                </a:lnTo>
                <a:lnTo>
                  <a:pt x="1658435" y="1603308"/>
                </a:lnTo>
                <a:lnTo>
                  <a:pt x="0" y="1603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B8C3215-5376-C52C-163E-1A6859A6855F}"/>
              </a:ext>
            </a:extLst>
          </p:cNvPr>
          <p:cNvSpPr/>
          <p:nvPr/>
        </p:nvSpPr>
        <p:spPr>
          <a:xfrm>
            <a:off x="15419047" y="7357765"/>
            <a:ext cx="1725868" cy="1668498"/>
          </a:xfrm>
          <a:custGeom>
            <a:avLst/>
            <a:gdLst/>
            <a:ahLst/>
            <a:cxnLst/>
            <a:rect l="l" t="t" r="r" b="b"/>
            <a:pathLst>
              <a:path w="1725868" h="1668498">
                <a:moveTo>
                  <a:pt x="0" y="0"/>
                </a:moveTo>
                <a:lnTo>
                  <a:pt x="1725868" y="0"/>
                </a:lnTo>
                <a:lnTo>
                  <a:pt x="1725868" y="1668498"/>
                </a:lnTo>
                <a:lnTo>
                  <a:pt x="0" y="166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8B443D9-896D-97DF-0382-42E4F9936693}"/>
              </a:ext>
            </a:extLst>
          </p:cNvPr>
          <p:cNvSpPr/>
          <p:nvPr/>
        </p:nvSpPr>
        <p:spPr>
          <a:xfrm flipH="1">
            <a:off x="15255366" y="2293091"/>
            <a:ext cx="4114800" cy="680812"/>
          </a:xfrm>
          <a:custGeom>
            <a:avLst/>
            <a:gdLst/>
            <a:ahLst/>
            <a:cxnLst/>
            <a:rect l="l" t="t" r="r" b="b"/>
            <a:pathLst>
              <a:path w="4114800" h="680812">
                <a:moveTo>
                  <a:pt x="4114800" y="0"/>
                </a:moveTo>
                <a:lnTo>
                  <a:pt x="0" y="0"/>
                </a:lnTo>
                <a:lnTo>
                  <a:pt x="0" y="680813"/>
                </a:lnTo>
                <a:lnTo>
                  <a:pt x="4114800" y="680813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18C860F-A7FD-535B-A5E5-9FAC59CD9AE3}"/>
              </a:ext>
            </a:extLst>
          </p:cNvPr>
          <p:cNvSpPr txBox="1"/>
          <p:nvPr/>
        </p:nvSpPr>
        <p:spPr>
          <a:xfrm>
            <a:off x="998279" y="3545996"/>
            <a:ext cx="17830800" cy="4001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vi-VN" sz="8000" b="1">
                <a:solidFill>
                  <a:srgbClr val="00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CHƯƠNG 2</a:t>
            </a:r>
            <a:endParaRPr lang="en-US" sz="8000" b="1">
              <a:solidFill>
                <a:srgbClr val="00FFFF"/>
              </a:solidFill>
              <a:latin typeface="Neo Sans Bold"/>
              <a:ea typeface="Neo Sans Bold"/>
              <a:cs typeface="Neo Sans Bold"/>
              <a:sym typeface="Neo Sans Bold"/>
            </a:endParaRPr>
          </a:p>
          <a:p>
            <a:pPr algn="l">
              <a:lnSpc>
                <a:spcPct val="150000"/>
              </a:lnSpc>
            </a:pPr>
            <a:r>
              <a:rPr lang="vi-VN" sz="5000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HỆ THỐNG QUY TRÌNH NGHIỆP VỤ TẠI HASAKI </a:t>
            </a:r>
          </a:p>
          <a:p>
            <a:pPr algn="l">
              <a:lnSpc>
                <a:spcPct val="150000"/>
              </a:lnSpc>
            </a:pPr>
            <a:r>
              <a:rPr lang="vi-VN" sz="5000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BEAUTY &amp; S.P.A</a:t>
            </a:r>
          </a:p>
        </p:txBody>
      </p:sp>
    </p:spTree>
    <p:extLst>
      <p:ext uri="{BB962C8B-B14F-4D97-AF65-F5344CB8AC3E}">
        <p14:creationId xmlns:p14="http://schemas.microsoft.com/office/powerpoint/2010/main" val="1153740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27B1E-08C3-1185-55AF-8499DA628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A4B481E-27DD-4574-E148-4555EC567FE8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1444978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6EE8AA4-2DDF-056D-8DDE-04771A7EA297}"/>
                </a:ext>
              </a:extLst>
            </p:cNvPr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317" r="-3317"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A26F75C-FF38-1D10-AE56-0AFA4290408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73A7061-1DC2-B91B-4B44-D497E5EF720E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1076D">
                    <a:alpha val="64000"/>
                  </a:srgbClr>
                </a:gs>
                <a:gs pos="100000">
                  <a:srgbClr val="144357">
                    <a:alpha val="64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BA73867-3EBD-9CEE-E357-D33481EE23B1}"/>
                </a:ext>
              </a:extLst>
            </p:cNvPr>
            <p:cNvSpPr txBox="1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1C124A0-F05C-55D6-F5E4-868D12A4B2D0}"/>
              </a:ext>
            </a:extLst>
          </p:cNvPr>
          <p:cNvSpPr/>
          <p:nvPr/>
        </p:nvSpPr>
        <p:spPr>
          <a:xfrm>
            <a:off x="-1598616" y="8211064"/>
            <a:ext cx="5244214" cy="1378534"/>
          </a:xfrm>
          <a:custGeom>
            <a:avLst/>
            <a:gdLst/>
            <a:ahLst/>
            <a:cxnLst/>
            <a:rect l="l" t="t" r="r" b="b"/>
            <a:pathLst>
              <a:path w="5244214" h="1378534">
                <a:moveTo>
                  <a:pt x="0" y="0"/>
                </a:moveTo>
                <a:lnTo>
                  <a:pt x="5244213" y="0"/>
                </a:lnTo>
                <a:lnTo>
                  <a:pt x="5244213" y="1378534"/>
                </a:lnTo>
                <a:lnTo>
                  <a:pt x="0" y="13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9DF3AD6-30BF-DA9E-F959-F2E3C540C69D}"/>
              </a:ext>
            </a:extLst>
          </p:cNvPr>
          <p:cNvSpPr/>
          <p:nvPr/>
        </p:nvSpPr>
        <p:spPr>
          <a:xfrm flipH="1">
            <a:off x="15255366" y="2532697"/>
            <a:ext cx="5244214" cy="1378534"/>
          </a:xfrm>
          <a:custGeom>
            <a:avLst/>
            <a:gdLst/>
            <a:ahLst/>
            <a:cxnLst/>
            <a:rect l="l" t="t" r="r" b="b"/>
            <a:pathLst>
              <a:path w="5244214" h="1378534">
                <a:moveTo>
                  <a:pt x="5244214" y="0"/>
                </a:moveTo>
                <a:lnTo>
                  <a:pt x="0" y="0"/>
                </a:lnTo>
                <a:lnTo>
                  <a:pt x="0" y="1378534"/>
                </a:lnTo>
                <a:lnTo>
                  <a:pt x="5244214" y="1378534"/>
                </a:lnTo>
                <a:lnTo>
                  <a:pt x="524421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F7F8E92-4FD9-1363-59E7-8FB633E6BB12}"/>
              </a:ext>
            </a:extLst>
          </p:cNvPr>
          <p:cNvSpPr/>
          <p:nvPr/>
        </p:nvSpPr>
        <p:spPr>
          <a:xfrm>
            <a:off x="1441909" y="929389"/>
            <a:ext cx="1658436" cy="1603308"/>
          </a:xfrm>
          <a:custGeom>
            <a:avLst/>
            <a:gdLst/>
            <a:ahLst/>
            <a:cxnLst/>
            <a:rect l="l" t="t" r="r" b="b"/>
            <a:pathLst>
              <a:path w="1658436" h="1603308">
                <a:moveTo>
                  <a:pt x="0" y="0"/>
                </a:moveTo>
                <a:lnTo>
                  <a:pt x="1658435" y="0"/>
                </a:lnTo>
                <a:lnTo>
                  <a:pt x="1658435" y="1603308"/>
                </a:lnTo>
                <a:lnTo>
                  <a:pt x="0" y="1603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FB5105D-9846-D831-3CCC-35235B29A30A}"/>
              </a:ext>
            </a:extLst>
          </p:cNvPr>
          <p:cNvSpPr/>
          <p:nvPr/>
        </p:nvSpPr>
        <p:spPr>
          <a:xfrm>
            <a:off x="15419047" y="7357765"/>
            <a:ext cx="1725868" cy="1668498"/>
          </a:xfrm>
          <a:custGeom>
            <a:avLst/>
            <a:gdLst/>
            <a:ahLst/>
            <a:cxnLst/>
            <a:rect l="l" t="t" r="r" b="b"/>
            <a:pathLst>
              <a:path w="1725868" h="1668498">
                <a:moveTo>
                  <a:pt x="0" y="0"/>
                </a:moveTo>
                <a:lnTo>
                  <a:pt x="1725868" y="0"/>
                </a:lnTo>
                <a:lnTo>
                  <a:pt x="1725868" y="1668498"/>
                </a:lnTo>
                <a:lnTo>
                  <a:pt x="0" y="166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6C8422D-003C-75EC-C2CB-1A0BBB9863DB}"/>
              </a:ext>
            </a:extLst>
          </p:cNvPr>
          <p:cNvSpPr/>
          <p:nvPr/>
        </p:nvSpPr>
        <p:spPr>
          <a:xfrm flipH="1">
            <a:off x="15255366" y="2293091"/>
            <a:ext cx="4114800" cy="680812"/>
          </a:xfrm>
          <a:custGeom>
            <a:avLst/>
            <a:gdLst/>
            <a:ahLst/>
            <a:cxnLst/>
            <a:rect l="l" t="t" r="r" b="b"/>
            <a:pathLst>
              <a:path w="4114800" h="680812">
                <a:moveTo>
                  <a:pt x="4114800" y="0"/>
                </a:moveTo>
                <a:lnTo>
                  <a:pt x="0" y="0"/>
                </a:lnTo>
                <a:lnTo>
                  <a:pt x="0" y="680813"/>
                </a:lnTo>
                <a:lnTo>
                  <a:pt x="4114800" y="680813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E79EB1B-6930-9B9E-3417-B64A22E6E8ED}"/>
              </a:ext>
            </a:extLst>
          </p:cNvPr>
          <p:cNvSpPr txBox="1"/>
          <p:nvPr/>
        </p:nvSpPr>
        <p:spPr>
          <a:xfrm>
            <a:off x="998279" y="3545996"/>
            <a:ext cx="17830800" cy="4001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vi-VN" sz="8000" b="1">
                <a:solidFill>
                  <a:srgbClr val="00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CHƯƠNG 3</a:t>
            </a:r>
            <a:endParaRPr lang="en-US" sz="8000" b="1">
              <a:solidFill>
                <a:srgbClr val="00FFFF"/>
              </a:solidFill>
              <a:latin typeface="Neo Sans Bold"/>
              <a:ea typeface="Neo Sans Bold"/>
              <a:cs typeface="Neo Sans Bold"/>
              <a:sym typeface="Neo Sans Bold"/>
            </a:endParaRPr>
          </a:p>
          <a:p>
            <a:pPr algn="l">
              <a:lnSpc>
                <a:spcPct val="150000"/>
              </a:lnSpc>
            </a:pPr>
            <a:r>
              <a:rPr lang="vi-VN" sz="5000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MÔ HÌNH HÓA QUY TRÌNH NGHIỆP TẠI HASAKI </a:t>
            </a:r>
          </a:p>
          <a:p>
            <a:pPr algn="l">
              <a:lnSpc>
                <a:spcPct val="150000"/>
              </a:lnSpc>
            </a:pPr>
            <a:r>
              <a:rPr lang="vi-VN" sz="5000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BEAUTY &amp; S.P.A </a:t>
            </a:r>
          </a:p>
        </p:txBody>
      </p:sp>
    </p:spTree>
    <p:extLst>
      <p:ext uri="{BB962C8B-B14F-4D97-AF65-F5344CB8AC3E}">
        <p14:creationId xmlns:p14="http://schemas.microsoft.com/office/powerpoint/2010/main" val="2835481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2B754-DD82-3C24-3BC6-8D709A652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FB55F4-4FE8-3397-DF2A-029E8C7AC4CF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1444978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D96AEAD-5CBE-1415-D29E-19D083EC6845}"/>
                </a:ext>
              </a:extLst>
            </p:cNvPr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317" r="-3317"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C4FB93C-ADF9-8B23-FC18-E05AA6C91F7F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3EE204B-03DB-5302-D312-B453E870B443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1076D">
                    <a:alpha val="64000"/>
                  </a:srgbClr>
                </a:gs>
                <a:gs pos="100000">
                  <a:srgbClr val="144357">
                    <a:alpha val="64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6A65A4D-EC71-3521-10DF-7C2D6DA2E63E}"/>
                </a:ext>
              </a:extLst>
            </p:cNvPr>
            <p:cNvSpPr txBox="1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3BC1623-F655-D48B-C8C7-533AB44CC054}"/>
              </a:ext>
            </a:extLst>
          </p:cNvPr>
          <p:cNvSpPr/>
          <p:nvPr/>
        </p:nvSpPr>
        <p:spPr>
          <a:xfrm>
            <a:off x="-1598616" y="8211064"/>
            <a:ext cx="5244214" cy="1378534"/>
          </a:xfrm>
          <a:custGeom>
            <a:avLst/>
            <a:gdLst/>
            <a:ahLst/>
            <a:cxnLst/>
            <a:rect l="l" t="t" r="r" b="b"/>
            <a:pathLst>
              <a:path w="5244214" h="1378534">
                <a:moveTo>
                  <a:pt x="0" y="0"/>
                </a:moveTo>
                <a:lnTo>
                  <a:pt x="5244213" y="0"/>
                </a:lnTo>
                <a:lnTo>
                  <a:pt x="5244213" y="1378534"/>
                </a:lnTo>
                <a:lnTo>
                  <a:pt x="0" y="13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75BACA5-BFEC-DCC3-3735-57A1A3B65F38}"/>
              </a:ext>
            </a:extLst>
          </p:cNvPr>
          <p:cNvSpPr/>
          <p:nvPr/>
        </p:nvSpPr>
        <p:spPr>
          <a:xfrm flipH="1">
            <a:off x="15255366" y="2532697"/>
            <a:ext cx="5244214" cy="1378534"/>
          </a:xfrm>
          <a:custGeom>
            <a:avLst/>
            <a:gdLst/>
            <a:ahLst/>
            <a:cxnLst/>
            <a:rect l="l" t="t" r="r" b="b"/>
            <a:pathLst>
              <a:path w="5244214" h="1378534">
                <a:moveTo>
                  <a:pt x="5244214" y="0"/>
                </a:moveTo>
                <a:lnTo>
                  <a:pt x="0" y="0"/>
                </a:lnTo>
                <a:lnTo>
                  <a:pt x="0" y="1378534"/>
                </a:lnTo>
                <a:lnTo>
                  <a:pt x="5244214" y="1378534"/>
                </a:lnTo>
                <a:lnTo>
                  <a:pt x="524421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EFFFF11-A87E-872A-10DA-2EE70010823A}"/>
              </a:ext>
            </a:extLst>
          </p:cNvPr>
          <p:cNvSpPr/>
          <p:nvPr/>
        </p:nvSpPr>
        <p:spPr>
          <a:xfrm>
            <a:off x="1441909" y="929389"/>
            <a:ext cx="1658436" cy="1603308"/>
          </a:xfrm>
          <a:custGeom>
            <a:avLst/>
            <a:gdLst/>
            <a:ahLst/>
            <a:cxnLst/>
            <a:rect l="l" t="t" r="r" b="b"/>
            <a:pathLst>
              <a:path w="1658436" h="1603308">
                <a:moveTo>
                  <a:pt x="0" y="0"/>
                </a:moveTo>
                <a:lnTo>
                  <a:pt x="1658435" y="0"/>
                </a:lnTo>
                <a:lnTo>
                  <a:pt x="1658435" y="1603308"/>
                </a:lnTo>
                <a:lnTo>
                  <a:pt x="0" y="1603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5124263-22D2-5C25-4FB9-4CD4CC2729C2}"/>
              </a:ext>
            </a:extLst>
          </p:cNvPr>
          <p:cNvSpPr/>
          <p:nvPr/>
        </p:nvSpPr>
        <p:spPr>
          <a:xfrm>
            <a:off x="15419047" y="7357765"/>
            <a:ext cx="1725868" cy="1668498"/>
          </a:xfrm>
          <a:custGeom>
            <a:avLst/>
            <a:gdLst/>
            <a:ahLst/>
            <a:cxnLst/>
            <a:rect l="l" t="t" r="r" b="b"/>
            <a:pathLst>
              <a:path w="1725868" h="1668498">
                <a:moveTo>
                  <a:pt x="0" y="0"/>
                </a:moveTo>
                <a:lnTo>
                  <a:pt x="1725868" y="0"/>
                </a:lnTo>
                <a:lnTo>
                  <a:pt x="1725868" y="1668498"/>
                </a:lnTo>
                <a:lnTo>
                  <a:pt x="0" y="166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72E3981-5A43-DD8D-6976-CF56AA19591F}"/>
              </a:ext>
            </a:extLst>
          </p:cNvPr>
          <p:cNvSpPr/>
          <p:nvPr/>
        </p:nvSpPr>
        <p:spPr>
          <a:xfrm flipH="1">
            <a:off x="15255366" y="2293091"/>
            <a:ext cx="4114800" cy="680812"/>
          </a:xfrm>
          <a:custGeom>
            <a:avLst/>
            <a:gdLst/>
            <a:ahLst/>
            <a:cxnLst/>
            <a:rect l="l" t="t" r="r" b="b"/>
            <a:pathLst>
              <a:path w="4114800" h="680812">
                <a:moveTo>
                  <a:pt x="4114800" y="0"/>
                </a:moveTo>
                <a:lnTo>
                  <a:pt x="0" y="0"/>
                </a:lnTo>
                <a:lnTo>
                  <a:pt x="0" y="680813"/>
                </a:lnTo>
                <a:lnTo>
                  <a:pt x="4114800" y="680813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B001D05-EF84-E69F-A4DD-C7B6963101C6}"/>
              </a:ext>
            </a:extLst>
          </p:cNvPr>
          <p:cNvSpPr txBox="1"/>
          <p:nvPr/>
        </p:nvSpPr>
        <p:spPr>
          <a:xfrm>
            <a:off x="998279" y="3545996"/>
            <a:ext cx="17830800" cy="4001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vi-VN" sz="8000" b="1">
                <a:solidFill>
                  <a:srgbClr val="00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CHƯƠNG 4</a:t>
            </a:r>
            <a:endParaRPr lang="en-US" sz="8000" b="1">
              <a:solidFill>
                <a:srgbClr val="00FFFF"/>
              </a:solidFill>
              <a:latin typeface="Neo Sans Bold"/>
              <a:ea typeface="Neo Sans Bold"/>
              <a:cs typeface="Neo Sans Bold"/>
              <a:sym typeface="Neo Sans Bold"/>
            </a:endParaRPr>
          </a:p>
          <a:p>
            <a:pPr algn="l">
              <a:lnSpc>
                <a:spcPct val="150000"/>
              </a:lnSpc>
            </a:pPr>
            <a:r>
              <a:rPr lang="vi-VN" sz="5000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PHÂN TÍCH QUY TRÌNH NGHIỆP VỤ HASAKI </a:t>
            </a:r>
          </a:p>
          <a:p>
            <a:pPr algn="l">
              <a:lnSpc>
                <a:spcPct val="150000"/>
              </a:lnSpc>
            </a:pPr>
            <a:r>
              <a:rPr lang="vi-VN" sz="5000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BEAUTY &amp; S.P.A</a:t>
            </a:r>
          </a:p>
        </p:txBody>
      </p:sp>
    </p:spTree>
    <p:extLst>
      <p:ext uri="{BB962C8B-B14F-4D97-AF65-F5344CB8AC3E}">
        <p14:creationId xmlns:p14="http://schemas.microsoft.com/office/powerpoint/2010/main" val="3325703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144497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317" r="-3317"/>
              </a:stretch>
            </a:blipFill>
          </p:spPr>
          <p:txBody>
            <a:bodyPr/>
            <a:lstStyle/>
            <a:p>
              <a:endParaRPr lang="vi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1076D">
                    <a:alpha val="64000"/>
                  </a:srgbClr>
                </a:gs>
                <a:gs pos="100000">
                  <a:srgbClr val="144357">
                    <a:alpha val="64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vi-V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272127" y="2970346"/>
            <a:ext cx="5492273" cy="292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97"/>
              </a:lnSpc>
            </a:pPr>
            <a:r>
              <a:rPr lang="en-US" sz="15569" b="1">
                <a:solidFill>
                  <a:srgbClr val="00FFD1"/>
                </a:solidFill>
                <a:latin typeface="Neo Sans Bold"/>
                <a:ea typeface="Neo Sans Bold"/>
                <a:cs typeface="Neo Sans Bold"/>
                <a:sym typeface="Neo Sans Bold"/>
              </a:rPr>
              <a:t>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23599" y="2924096"/>
            <a:ext cx="6771448" cy="297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39"/>
              </a:lnSpc>
            </a:pPr>
            <a:r>
              <a:rPr lang="en-US" sz="15600" b="1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Thank</a:t>
            </a:r>
          </a:p>
        </p:txBody>
      </p:sp>
      <p:grpSp>
        <p:nvGrpSpPr>
          <p:cNvPr id="9" name="Group 9"/>
          <p:cNvGrpSpPr/>
          <p:nvPr/>
        </p:nvGrpSpPr>
        <p:grpSpPr>
          <a:xfrm rot="-10800000">
            <a:off x="-5146894" y="2215935"/>
            <a:ext cx="8212531" cy="47625"/>
            <a:chOff x="0" y="0"/>
            <a:chExt cx="2162971" cy="125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62971" cy="12543"/>
            </a:xfrm>
            <a:custGeom>
              <a:avLst/>
              <a:gdLst/>
              <a:ahLst/>
              <a:cxnLst/>
              <a:rect l="l" t="t" r="r" b="b"/>
              <a:pathLst>
                <a:path w="2162971" h="12543">
                  <a:moveTo>
                    <a:pt x="0" y="0"/>
                  </a:moveTo>
                  <a:lnTo>
                    <a:pt x="2162971" y="0"/>
                  </a:lnTo>
                  <a:lnTo>
                    <a:pt x="216297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0E5F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2162971" cy="79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2834801" y="2124330"/>
            <a:ext cx="230836" cy="23083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E5F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315205" y="7479201"/>
            <a:ext cx="8212531" cy="47625"/>
            <a:chOff x="0" y="0"/>
            <a:chExt cx="2162971" cy="125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62971" cy="12543"/>
            </a:xfrm>
            <a:custGeom>
              <a:avLst/>
              <a:gdLst/>
              <a:ahLst/>
              <a:cxnLst/>
              <a:rect l="l" t="t" r="r" b="b"/>
              <a:pathLst>
                <a:path w="2162971" h="12543">
                  <a:moveTo>
                    <a:pt x="0" y="0"/>
                  </a:moveTo>
                  <a:lnTo>
                    <a:pt x="2162971" y="0"/>
                  </a:lnTo>
                  <a:lnTo>
                    <a:pt x="216297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20E5F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2162971" cy="79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315205" y="7387596"/>
            <a:ext cx="230836" cy="23083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E5F6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176366" y="5899706"/>
            <a:ext cx="1658436" cy="1603308"/>
          </a:xfrm>
          <a:custGeom>
            <a:avLst/>
            <a:gdLst/>
            <a:ahLst/>
            <a:cxnLst/>
            <a:rect l="l" t="t" r="r" b="b"/>
            <a:pathLst>
              <a:path w="1658436" h="1603308">
                <a:moveTo>
                  <a:pt x="0" y="0"/>
                </a:moveTo>
                <a:lnTo>
                  <a:pt x="1658435" y="0"/>
                </a:lnTo>
                <a:lnTo>
                  <a:pt x="1658435" y="1603308"/>
                </a:lnTo>
                <a:lnTo>
                  <a:pt x="0" y="1603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22" name="Freeform 22"/>
          <p:cNvSpPr/>
          <p:nvPr/>
        </p:nvSpPr>
        <p:spPr>
          <a:xfrm>
            <a:off x="15341284" y="2263560"/>
            <a:ext cx="1725868" cy="1668498"/>
          </a:xfrm>
          <a:custGeom>
            <a:avLst/>
            <a:gdLst/>
            <a:ahLst/>
            <a:cxnLst/>
            <a:rect l="l" t="t" r="r" b="b"/>
            <a:pathLst>
              <a:path w="1725868" h="1668498">
                <a:moveTo>
                  <a:pt x="0" y="0"/>
                </a:moveTo>
                <a:lnTo>
                  <a:pt x="1725868" y="0"/>
                </a:lnTo>
                <a:lnTo>
                  <a:pt x="1725868" y="1668498"/>
                </a:lnTo>
                <a:lnTo>
                  <a:pt x="0" y="166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266</Words>
  <Application>Microsoft Office PowerPoint</Application>
  <PresentationFormat>Custom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Poppins Bold</vt:lpstr>
      <vt:lpstr>Neo Sans Bold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Thực hành nhóm 5</dc:title>
  <cp:lastModifiedBy>Phan Doãn Luân</cp:lastModifiedBy>
  <cp:revision>5</cp:revision>
  <dcterms:created xsi:type="dcterms:W3CDTF">2006-08-16T00:00:00Z</dcterms:created>
  <dcterms:modified xsi:type="dcterms:W3CDTF">2026-08-03T10:31:11Z</dcterms:modified>
  <dc:identifier>DAG77NmmJws</dc:identifier>
</cp:coreProperties>
</file>